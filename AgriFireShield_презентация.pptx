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-490" y="-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Урожайность ц/га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  <c:spPr>
              <a:solidFill>
                <a:srgbClr val="E85C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5C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A8C63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10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Картофель</c:v>
                </c:pt>
                <c:pt idx="1">
                  <c:v>Овощи</c:v>
                </c:pt>
                <c:pt idx="2">
                  <c:v>Ячмень</c:v>
                </c:pt>
                <c:pt idx="3">
                  <c:v>Пшеница яровая</c:v>
                </c:pt>
                <c:pt idx="4">
                  <c:v>Подсолнечник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210</c:v>
                </c:pt>
                <c:pt idx="1">
                  <c:v>268</c:v>
                </c:pt>
                <c:pt idx="2">
                  <c:v>16.3</c:v>
                </c:pt>
                <c:pt idx="3">
                  <c:v>14.2</c:v>
                </c:pt>
                <c:pt idx="4">
                  <c:v>13.4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24635136"/>
        <c:axId val="165318592"/>
      </c:barChart>
      <c:catAx>
        <c:axId val="12463513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ru-RU"/>
          </a:p>
        </c:txPr>
        <c:crossAx val="165318592"/>
        <c:crosses val="autoZero"/>
        <c:auto val="1"/>
        <c:lblAlgn val="ctr"/>
        <c:lblOffset val="100"/>
        <c:noMultiLvlLbl val="1"/>
      </c:catAx>
      <c:valAx>
        <c:axId val="16531859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ru-RU"/>
          </a:p>
        </c:txPr>
        <c:crossAx val="1246351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5643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2926080"/>
            <a:ext cx="2286000" cy="2286000"/>
          </a:xfrm>
          <a:prstGeom prst="line">
            <a:avLst/>
          </a:prstGeom>
          <a:solidFill>
            <a:srgbClr val="2D6A4F">
              <a:alpha val="30000"/>
            </a:srgbClr>
          </a:solidFill>
          <a:ln w="12700">
            <a:solidFill>
              <a:srgbClr val="2D6A4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457200"/>
            <a:ext cx="2743200" cy="2743200"/>
          </a:xfrm>
          <a:prstGeom prst="line">
            <a:avLst/>
          </a:prstGeom>
          <a:solidFill>
            <a:srgbClr val="2D6A4F">
              <a:alpha val="20000"/>
            </a:srgbClr>
          </a:solidFill>
          <a:ln w="12700">
            <a:solidFill>
              <a:srgbClr val="2D6A4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2377440" cy="292608"/>
          </a:xfrm>
          <a:prstGeom prst="rect">
            <a:avLst/>
          </a:prstGeom>
          <a:solidFill>
            <a:srgbClr val="E85C00"/>
          </a:solidFill>
          <a:ln w="12700">
            <a:solidFill>
              <a:srgbClr val="E85C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CYBERSHIELD 2026 · ТРЕК 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AgriFireShield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E8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AI-платформа мониторинга пожаров и агроаналитики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A9E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пожаров · ИИ Помощник агроному · Субсидии · Урожайность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416052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1605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🛰 </a:t>
            </a:r>
            <a:r>
              <a:rPr lang="ru-RU" sz="1300" b="1" dirty="0" smtClean="0">
                <a:solidFill>
                  <a:srgbClr val="FFFFFF"/>
                </a:solidFill>
              </a:rPr>
              <a:t>   </a:t>
            </a:r>
            <a:r>
              <a:rPr lang="en-US" sz="1300" b="1" dirty="0" smtClean="0">
                <a:solidFill>
                  <a:srgbClr val="FFFFFF"/>
                </a:solidFill>
              </a:rPr>
              <a:t>NASA </a:t>
            </a:r>
            <a:r>
              <a:rPr lang="en-US" sz="1300" b="1" dirty="0">
                <a:solidFill>
                  <a:srgbClr val="FFFFFF"/>
                </a:solidFill>
              </a:rPr>
              <a:t>FIRMS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68880" y="416052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41605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🤖 </a:t>
            </a:r>
            <a:r>
              <a:rPr lang="ru-RU" sz="1300" b="1" dirty="0" smtClean="0">
                <a:solidFill>
                  <a:srgbClr val="FFFFFF"/>
                </a:solidFill>
              </a:rPr>
              <a:t>   </a:t>
            </a:r>
            <a:r>
              <a:rPr lang="en-US" sz="1300" b="1" dirty="0" smtClean="0">
                <a:solidFill>
                  <a:srgbClr val="FFFFFF"/>
                </a:solidFill>
              </a:rPr>
              <a:t>Claude </a:t>
            </a:r>
            <a:r>
              <a:rPr lang="en-US" sz="1300" b="1" dirty="0">
                <a:solidFill>
                  <a:srgbClr val="FFFFFF"/>
                </a:solidFill>
              </a:rPr>
              <a:t>AI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17720" y="416052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41605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n8n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66560" y="416052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E85C00"/>
          </a:solidFill>
          <a:ln w="12700">
            <a:solidFill>
              <a:srgbClr val="E85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41605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FFFFFF"/>
                </a:solidFill>
              </a:rPr>
              <a:t>🌾</a:t>
            </a:r>
            <a:r>
              <a:rPr lang="ru-RU" sz="1300" b="1" dirty="0" smtClean="0">
                <a:solidFill>
                  <a:srgbClr val="FFFFFF"/>
                </a:solidFill>
              </a:rPr>
              <a:t>    </a:t>
            </a:r>
            <a:r>
              <a:rPr lang="en-US" sz="1300" b="1" dirty="0" smtClean="0">
                <a:solidFill>
                  <a:srgbClr val="FFFFFF"/>
                </a:solidFill>
              </a:rPr>
              <a:t> </a:t>
            </a:r>
            <a:r>
              <a:rPr lang="en-US" sz="1300" b="1" dirty="0">
                <a:solidFill>
                  <a:srgbClr val="FFFFFF"/>
                </a:solidFill>
              </a:rPr>
              <a:t>Казахстан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377440" cy="292608"/>
          </a:xfrm>
          <a:prstGeom prst="rect">
            <a:avLst/>
          </a:prstGeom>
          <a:solidFill>
            <a:srgbClr val="E85C00"/>
          </a:solidFill>
          <a:ln w="12700">
            <a:solidFill>
              <a:srgbClr val="E85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CYBERSHIELD 2026 · ТРЕК 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5029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Хакатята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A9E90"/>
                </a:solidFill>
              </a:rPr>
              <a:t>AgriFireShield — Команда проекта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657600" cy="2606040"/>
          </a:xfrm>
          <a:prstGeom prst="roundRect">
            <a:avLst>
              <a:gd name="adj" fmla="val 5263"/>
            </a:avLst>
          </a:prstGeom>
          <a:solidFill>
            <a:srgbClr val="2D6A4F"/>
          </a:solidFill>
          <a:ln w="25400">
            <a:solidFill>
              <a:srgbClr val="E85C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1920240"/>
            <a:ext cx="2743200" cy="0"/>
          </a:xfrm>
          <a:prstGeom prst="line">
            <a:avLst/>
          </a:prstGeom>
          <a:noFill/>
          <a:ln w="25400">
            <a:solidFill>
              <a:srgbClr val="E85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402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4400" dirty="0" smtClean="0">
                <a:solidFill>
                  <a:srgbClr val="000000"/>
                </a:solidFill>
              </a:rPr>
              <a:t>           </a:t>
            </a:r>
            <a:r>
              <a:rPr lang="en-US" sz="4400" dirty="0" smtClean="0">
                <a:solidFill>
                  <a:srgbClr val="000000"/>
                </a:solidFill>
              </a:rPr>
              <a:t>👑</a:t>
            </a:r>
            <a:r>
              <a:rPr lang="ru-RU" sz="4400" dirty="0" smtClean="0">
                <a:solidFill>
                  <a:srgbClr val="000000"/>
                </a:solidFill>
              </a:rPr>
              <a:t>    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E85C00"/>
                </a:solidFill>
              </a:rPr>
              <a:t>КАПИТАН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3649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Кушебаев Алмат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3794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E90"/>
                </a:solidFill>
              </a:rPr>
              <a:t>8 708 493 59 67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37760" y="2148840"/>
            <a:ext cx="3657600" cy="2606040"/>
          </a:xfrm>
          <a:prstGeom prst="roundRect">
            <a:avLst>
              <a:gd name="adj" fmla="val 5263"/>
            </a:avLst>
          </a:prstGeom>
          <a:solidFill>
            <a:srgbClr val="2D6A4F"/>
          </a:solidFill>
          <a:ln w="25400">
            <a:solidFill>
              <a:srgbClr val="3A8C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2402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4400" dirty="0">
                <a:solidFill>
                  <a:srgbClr val="000000"/>
                </a:solidFill>
              </a:rPr>
              <a:t> </a:t>
            </a:r>
            <a:r>
              <a:rPr lang="ru-RU" sz="4400" dirty="0" smtClean="0">
                <a:solidFill>
                  <a:srgbClr val="000000"/>
                </a:solidFill>
              </a:rPr>
              <a:t>       </a:t>
            </a:r>
            <a:r>
              <a:rPr lang="en-US" sz="4400" dirty="0" smtClean="0">
                <a:solidFill>
                  <a:srgbClr val="000000"/>
                </a:solidFill>
              </a:rPr>
              <a:t>👨</a:t>
            </a:r>
            <a:r>
              <a:rPr lang="ru-RU" sz="4400" dirty="0" smtClean="0">
                <a:solidFill>
                  <a:srgbClr val="000000"/>
                </a:solidFill>
              </a:rPr>
              <a:t>    </a:t>
            </a:r>
            <a:r>
              <a:rPr lang="en-US" sz="4400" dirty="0" smtClean="0">
                <a:solidFill>
                  <a:srgbClr val="000000"/>
                </a:solidFill>
              </a:rPr>
              <a:t>‍💻</a:t>
            </a:r>
            <a:r>
              <a:rPr lang="ru-RU" sz="4400" dirty="0" smtClean="0">
                <a:solidFill>
                  <a:srgbClr val="000000"/>
                </a:solidFill>
              </a:rPr>
              <a:t>     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93776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E85C00"/>
                </a:solidFill>
              </a:rPr>
              <a:t>УЧАСТНИК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33649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Бахтияров Бекзодбек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937760" y="3794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E90"/>
                </a:solidFill>
              </a:rPr>
              <a:t>8 707 761 60 48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156"/>
            <a:ext cx="4114800" cy="514350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5C00"/>
                </a:solidFill>
              </a:rPr>
              <a:t>ПРОБЛЕМА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Агросектор Казахстана теряет миллиарды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600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85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40280" y="1645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E90"/>
                </a:solidFill>
              </a:rPr>
              <a:t>урожая теряется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A9E90"/>
                </a:solidFill>
              </a:rPr>
              <a:t>из-за пожаров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26974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85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7.2 млрд ₸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40280" y="27432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E90"/>
                </a:solidFill>
              </a:rPr>
              <a:t>потенциальные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A9E90"/>
                </a:solidFill>
              </a:rPr>
              <a:t>потери субсидий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37947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85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 ч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240280" y="3840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E90"/>
                </a:solidFill>
              </a:rPr>
              <a:t>среднее время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A9E90"/>
                </a:solidFill>
              </a:rPr>
              <a:t>обнаружения пожара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0" y="274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происходит сейчас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251960" y="841248"/>
            <a:ext cx="46177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07408" y="1024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01</a:t>
            </a:r>
            <a:endParaRPr lang="en-US" sz="11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29200" y="9326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2A"/>
                </a:solidFill>
              </a:rPr>
              <a:t>Поздние уведомления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12527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Фермеры узнают о пожаре только когда огонь уже распространился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51960" y="1865376"/>
            <a:ext cx="46177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07408" y="20482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02</a:t>
            </a:r>
            <a:endParaRPr lang="en-US" sz="11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5029200" y="19568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2A"/>
                </a:solidFill>
              </a:rPr>
              <a:t>Гибель посевов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22768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Степные пожары охватывают тысячи га за часы при сильном ветре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51960" y="2889504"/>
            <a:ext cx="46177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407408" y="3072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03</a:t>
            </a:r>
            <a:endParaRPr lang="en-US" sz="11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5029200" y="298094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2A"/>
                </a:solidFill>
              </a:rPr>
              <a:t>Субсидийный фрод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0" y="330098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Расхождение спутниковых и заявленных площадей — до 450 000 га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51960" y="3913632"/>
            <a:ext cx="46177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407408" y="4096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04</a:t>
            </a:r>
            <a:endParaRPr lang="en-US" sz="11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5029200" y="40050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2A"/>
                </a:solidFill>
              </a:rPr>
              <a:t>Нет единой аналитики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0" y="43251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Субсидии, урожайность, пожары — в разных системах без связи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E85C00"/>
                </a:solidFill>
              </a:rPr>
              <a:t>РЕШЕНИЕ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3A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AgriFireShield — 4 модуля в одной платформе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011680" cy="35661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34440"/>
            <a:ext cx="2011680" cy="109728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4600" dirty="0" smtClean="0">
                <a:solidFill>
                  <a:srgbClr val="000000"/>
                </a:solidFill>
              </a:rPr>
              <a:t>    </a:t>
            </a:r>
            <a:r>
              <a:rPr lang="en-US" sz="4600" dirty="0" smtClean="0">
                <a:solidFill>
                  <a:srgbClr val="000000"/>
                </a:solidFill>
              </a:rPr>
              <a:t>🗺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365760" y="221284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пожаров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28803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FIRMS в реальном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времени. 17 регионов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Казахстана на Leaflet-карте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50592" y="1234440"/>
            <a:ext cx="2011680" cy="35661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1234440"/>
            <a:ext cx="2011680" cy="1097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13716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4600" dirty="0" smtClean="0">
                <a:solidFill>
                  <a:srgbClr val="000000"/>
                </a:solidFill>
              </a:rPr>
              <a:t>    </a:t>
            </a:r>
            <a:r>
              <a:rPr lang="en-US" sz="4600" dirty="0" smtClean="0">
                <a:solidFill>
                  <a:srgbClr val="000000"/>
                </a:solidFill>
              </a:rPr>
              <a:t>🤖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2542032" y="221284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Помощник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агроному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42032" y="28803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 4.5.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фото урожая,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прогнозы, агроконсультации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26864" y="1234440"/>
            <a:ext cx="2011680" cy="35661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1234440"/>
            <a:ext cx="2011680" cy="109728"/>
          </a:xfrm>
          <a:prstGeom prst="rect">
            <a:avLst/>
          </a:prstGeom>
          <a:solidFill>
            <a:srgbClr val="E85C00"/>
          </a:solidFill>
          <a:ln w="12700">
            <a:solidFill>
              <a:srgbClr val="E85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13716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4600" dirty="0" smtClean="0">
                <a:solidFill>
                  <a:srgbClr val="000000"/>
                </a:solidFill>
              </a:rPr>
              <a:t>    </a:t>
            </a:r>
            <a:r>
              <a:rPr lang="en-US" sz="4600" dirty="0" smtClean="0">
                <a:solidFill>
                  <a:srgbClr val="000000"/>
                </a:solidFill>
              </a:rPr>
              <a:t>💰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4718304" y="221284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Субсидии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18304" y="28803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249 млрд ₸ под контролем.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Флаги аномалий и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выявление мошенничества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03136" y="1234440"/>
            <a:ext cx="2011680" cy="35661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1234440"/>
            <a:ext cx="2011680" cy="109728"/>
          </a:xfrm>
          <a:prstGeom prst="rect">
            <a:avLst/>
          </a:prstGeom>
          <a:solidFill>
            <a:srgbClr val="3A8C63"/>
          </a:solidFill>
          <a:ln w="12700">
            <a:solidFill>
              <a:srgbClr val="3A8C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13716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4600" dirty="0" smtClean="0">
                <a:solidFill>
                  <a:srgbClr val="000000"/>
                </a:solidFill>
              </a:rPr>
              <a:t>    </a:t>
            </a:r>
            <a:r>
              <a:rPr lang="en-US" sz="4600" dirty="0" smtClean="0">
                <a:solidFill>
                  <a:srgbClr val="000000"/>
                </a:solidFill>
              </a:rPr>
              <a:t>🌾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6894576" y="221284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Урожайность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94576" y="28803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Статистика 2022–2024.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культурам, регионам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классам качества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371600" y="4754880"/>
            <a:ext cx="6400800" cy="274320"/>
          </a:xfrm>
          <a:prstGeom prst="roundRect">
            <a:avLst>
              <a:gd name="adj" fmla="val 26667"/>
            </a:avLst>
          </a:prstGeom>
          <a:solidFill>
            <a:srgbClr val="E85C00"/>
          </a:solidFill>
          <a:ln w="12700">
            <a:solidFill>
              <a:srgbClr val="E85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Один интерфейс · Реальные данные · Планируется к запуску для фермеров и Минсельхоз РК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E85C00"/>
                </a:solidFill>
              </a:rPr>
              <a:t>КАК ЭТО РАБОТАЕТ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3A2A"/>
                </a:solidFill>
              </a:rPr>
              <a:t>Автоматизированный пайплайн · Laravel + n8n + Claude AI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1920240"/>
            <a:ext cx="9326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Триггер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каждые 2 ч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42416" y="1517904"/>
            <a:ext cx="749808" cy="0"/>
          </a:xfrm>
          <a:prstGeom prst="line">
            <a:avLst/>
          </a:prstGeom>
          <a:noFill/>
          <a:ln w="25400">
            <a:solidFill>
              <a:srgbClr val="E85C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10512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600" dirty="0" smtClean="0">
                <a:solidFill>
                  <a:srgbClr val="000000"/>
                </a:solidFill>
              </a:rPr>
              <a:t>  </a:t>
            </a:r>
            <a:r>
              <a:rPr lang="en-US" sz="2600" dirty="0" smtClean="0">
                <a:solidFill>
                  <a:srgbClr val="000000"/>
                </a:solidFill>
              </a:rPr>
              <a:t>🛰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673352" y="1920240"/>
            <a:ext cx="9326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FIRMS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87168" y="1517904"/>
            <a:ext cx="749808" cy="0"/>
          </a:xfrm>
          <a:prstGeom prst="line">
            <a:avLst/>
          </a:prstGeom>
          <a:noFill/>
          <a:ln w="25400">
            <a:solidFill>
              <a:srgbClr val="E85C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55264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600" dirty="0" smtClean="0">
                <a:solidFill>
                  <a:srgbClr val="000000"/>
                </a:solidFill>
              </a:rPr>
              <a:t>  </a:t>
            </a:r>
            <a:r>
              <a:rPr lang="en-US" sz="2600" dirty="0" smtClean="0">
                <a:solidFill>
                  <a:srgbClr val="000000"/>
                </a:solidFill>
              </a:rPr>
              <a:t>🌤</a:t>
            </a:r>
            <a:r>
              <a:rPr lang="ru-RU" sz="2600" dirty="0" smtClean="0">
                <a:solidFill>
                  <a:srgbClr val="000000"/>
                </a:solidFill>
              </a:rPr>
              <a:t> 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118104" y="1920240"/>
            <a:ext cx="9326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Погода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0" y="1517904"/>
            <a:ext cx="749808" cy="0"/>
          </a:xfrm>
          <a:prstGeom prst="line">
            <a:avLst/>
          </a:prstGeom>
          <a:noFill/>
          <a:ln w="25400">
            <a:solidFill>
              <a:srgbClr val="E85C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001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600" dirty="0" smtClean="0">
                <a:solidFill>
                  <a:srgbClr val="000000"/>
                </a:solidFill>
              </a:rPr>
              <a:t> </a:t>
            </a:r>
            <a:r>
              <a:rPr lang="en-US" sz="2600" dirty="0" smtClean="0">
                <a:solidFill>
                  <a:srgbClr val="000000"/>
                </a:solidFill>
              </a:rPr>
              <a:t>🧠</a:t>
            </a:r>
            <a:r>
              <a:rPr lang="ru-RU" sz="2600" dirty="0" smtClean="0">
                <a:solidFill>
                  <a:srgbClr val="000000"/>
                </a:solidFill>
              </a:rPr>
              <a:t>  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62856" y="1920240"/>
            <a:ext cx="9326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76672" y="1517904"/>
            <a:ext cx="749808" cy="0"/>
          </a:xfrm>
          <a:prstGeom prst="line">
            <a:avLst/>
          </a:prstGeom>
          <a:noFill/>
          <a:ln w="25400">
            <a:solidFill>
              <a:srgbClr val="E85C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4768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600" dirty="0" smtClean="0">
                <a:solidFill>
                  <a:srgbClr val="000000"/>
                </a:solidFill>
              </a:rPr>
              <a:t>  </a:t>
            </a:r>
            <a:r>
              <a:rPr lang="en-US" sz="2600" dirty="0" smtClean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007608" y="1920240"/>
            <a:ext cx="9326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Веб-платформа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21424" y="1517904"/>
            <a:ext cx="749808" cy="0"/>
          </a:xfrm>
          <a:prstGeom prst="line">
            <a:avLst/>
          </a:prstGeom>
          <a:noFill/>
          <a:ln w="25400">
            <a:solidFill>
              <a:srgbClr val="E85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600" dirty="0" smtClean="0">
                <a:solidFill>
                  <a:srgbClr val="000000"/>
                </a:solidFill>
              </a:rPr>
              <a:t> </a:t>
            </a:r>
            <a:r>
              <a:rPr lang="en-US" sz="2600" dirty="0" smtClean="0">
                <a:solidFill>
                  <a:srgbClr val="000000"/>
                </a:solidFill>
              </a:rPr>
              <a:t>🔔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452360" y="1920240"/>
            <a:ext cx="9326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Aitu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алёрт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743200"/>
            <a:ext cx="8595360" cy="2148840"/>
          </a:xfrm>
          <a:prstGeom prst="roundRect">
            <a:avLst>
              <a:gd name="adj" fmla="val 6383"/>
            </a:avLst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8346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5C00"/>
                </a:solidFill>
              </a:rPr>
              <a:t>⚡  Почему n8n — это сила?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2920" y="3291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5F0"/>
                </a:solidFill>
              </a:rPr>
              <a:t>🔌  </a:t>
            </a:r>
            <a:r>
              <a:rPr lang="ru-RU" sz="1300" dirty="0" smtClean="0">
                <a:solidFill>
                  <a:srgbClr val="F0F5F0"/>
                </a:solidFill>
              </a:rPr>
              <a:t>   </a:t>
            </a:r>
            <a:r>
              <a:rPr lang="en-US" sz="1300" dirty="0" err="1" smtClean="0">
                <a:solidFill>
                  <a:srgbClr val="F0F5F0"/>
                </a:solidFill>
              </a:rPr>
              <a:t>Интеграция</a:t>
            </a:r>
            <a:r>
              <a:rPr lang="en-US" sz="1300" dirty="0" smtClean="0">
                <a:solidFill>
                  <a:srgbClr val="F0F5F0"/>
                </a:solidFill>
              </a:rPr>
              <a:t> </a:t>
            </a:r>
            <a:r>
              <a:rPr lang="en-US" sz="1300" dirty="0">
                <a:solidFill>
                  <a:srgbClr val="F0F5F0"/>
                </a:solidFill>
              </a:rPr>
              <a:t>с любой системой: ERP, ГИС, Минсельхоз, банки, биржи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" y="3657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F0F5F0"/>
                </a:solidFill>
              </a:rPr>
              <a:t>☁</a:t>
            </a:r>
            <a:r>
              <a:rPr lang="ru-RU" sz="1300" dirty="0" smtClean="0">
                <a:solidFill>
                  <a:srgbClr val="F0F5F0"/>
                </a:solidFill>
              </a:rPr>
              <a:t>   </a:t>
            </a:r>
            <a:r>
              <a:rPr lang="en-US" sz="1300" dirty="0" smtClean="0">
                <a:solidFill>
                  <a:srgbClr val="F0F5F0"/>
                </a:solidFill>
              </a:rPr>
              <a:t>Self-hosted </a:t>
            </a:r>
            <a:r>
              <a:rPr lang="en-US" sz="1300" dirty="0">
                <a:solidFill>
                  <a:srgbClr val="F0F5F0"/>
                </a:solidFill>
              </a:rPr>
              <a:t>или облако — полный контроль данных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4023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5F0"/>
                </a:solidFill>
              </a:rPr>
              <a:t>🔧  </a:t>
            </a:r>
            <a:r>
              <a:rPr lang="ru-RU" sz="1300" dirty="0" smtClean="0">
                <a:solidFill>
                  <a:srgbClr val="F0F5F0"/>
                </a:solidFill>
              </a:rPr>
              <a:t>   </a:t>
            </a:r>
            <a:r>
              <a:rPr lang="en-US" sz="1300" dirty="0" err="1" smtClean="0">
                <a:solidFill>
                  <a:srgbClr val="F0F5F0"/>
                </a:solidFill>
              </a:rPr>
              <a:t>Без</a:t>
            </a:r>
            <a:r>
              <a:rPr lang="en-US" sz="1300" dirty="0" smtClean="0">
                <a:solidFill>
                  <a:srgbClr val="F0F5F0"/>
                </a:solidFill>
              </a:rPr>
              <a:t> </a:t>
            </a:r>
            <a:r>
              <a:rPr lang="en-US" sz="1300" dirty="0">
                <a:solidFill>
                  <a:srgbClr val="F0F5F0"/>
                </a:solidFill>
              </a:rPr>
              <a:t>кода: изменить источник данных или канал уведомлений за 5 минут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" y="4389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5F0"/>
                </a:solidFill>
              </a:rPr>
              <a:t>📈  </a:t>
            </a:r>
            <a:r>
              <a:rPr lang="ru-RU" sz="1300" dirty="0" smtClean="0">
                <a:solidFill>
                  <a:srgbClr val="F0F5F0"/>
                </a:solidFill>
              </a:rPr>
              <a:t>   </a:t>
            </a:r>
            <a:r>
              <a:rPr lang="en-US" sz="1300" dirty="0" err="1" smtClean="0">
                <a:solidFill>
                  <a:srgbClr val="F0F5F0"/>
                </a:solidFill>
              </a:rPr>
              <a:t>Масштабирование</a:t>
            </a:r>
            <a:r>
              <a:rPr lang="en-US" sz="1300" dirty="0">
                <a:solidFill>
                  <a:srgbClr val="F0F5F0"/>
                </a:solidFill>
              </a:rPr>
              <a:t>: добавить 1000 датчиков или 50 каналов без переписывания кода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E85C00"/>
                </a:solidFill>
              </a:rPr>
              <a:t>РЕАЛЬНЫЕ ДАННЫЕ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3A2A"/>
                </a:solidFill>
              </a:rPr>
              <a:t>Субсидии и урожайность из открытых источников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107899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3A2A"/>
                </a:solidFill>
              </a:rPr>
              <a:t>💰 </a:t>
            </a:r>
            <a:r>
              <a:rPr lang="en-US" sz="1800" b="1" dirty="0" smtClean="0">
                <a:solidFill>
                  <a:srgbClr val="1A3A2A"/>
                </a:solidFill>
              </a:rPr>
              <a:t>  </a:t>
            </a:r>
            <a:r>
              <a:rPr lang="en-US" sz="1800" b="1" dirty="0" err="1" smtClean="0">
                <a:solidFill>
                  <a:srgbClr val="1A3A2A"/>
                </a:solidFill>
              </a:rPr>
              <a:t>Субсидии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572768"/>
            <a:ext cx="40233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276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A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249 млрд 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057400" y="16642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общий объём субсидий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377440"/>
            <a:ext cx="40233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43230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7.2 млрд ₸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05740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потенциальные потери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182112"/>
            <a:ext cx="40233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23697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450 000 га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057400" y="32735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расхождение площадей (Костанай 2024)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986784"/>
            <a:ext cx="40233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40416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случай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057400" y="40782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мошенничества выявлено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107899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3A2A"/>
                </a:solidFill>
              </a:rPr>
              <a:t>🌾 </a:t>
            </a:r>
            <a:r>
              <a:rPr lang="en-US" sz="1800" b="1" dirty="0" smtClean="0">
                <a:solidFill>
                  <a:srgbClr val="1A3A2A"/>
                </a:solidFill>
              </a:rPr>
              <a:t>   </a:t>
            </a:r>
            <a:r>
              <a:rPr lang="en-US" sz="1800" b="1" dirty="0" err="1" smtClean="0">
                <a:solidFill>
                  <a:srgbClr val="1A3A2A"/>
                </a:solidFill>
              </a:rPr>
              <a:t>Урожайность</a:t>
            </a:r>
            <a:r>
              <a:rPr lang="en-US" sz="1800" b="1" dirty="0" smtClean="0">
                <a:solidFill>
                  <a:srgbClr val="1A3A2A"/>
                </a:solidFill>
              </a:rPr>
              <a:t> </a:t>
            </a:r>
            <a:r>
              <a:rPr lang="en-US" sz="1800" b="1" dirty="0">
                <a:solidFill>
                  <a:srgbClr val="1A3A2A"/>
                </a:solidFill>
              </a:rPr>
              <a:t>2024</a:t>
            </a:r>
            <a:endParaRPr lang="en-US" sz="18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4572000" y="1554480"/>
          <a:ext cx="42519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5C00"/>
                </a:solidFill>
              </a:rPr>
              <a:t>РЕЗУЛЬТАТ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получает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аграрный сектор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78308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8470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184708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5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x24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88720" y="23042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5F0"/>
                </a:solidFill>
              </a:rPr>
              <a:t>2 ч вместо 48 ч — быстрее в 24 раза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852928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91693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🌾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188720" y="291693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5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–35%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188720" y="33741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5F0"/>
                </a:solidFill>
              </a:rPr>
              <a:t>ожидаемое сокращение потерь урожая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922776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2D6A4F"/>
          </a:solidFill>
          <a:ln w="12700">
            <a:solidFill>
              <a:srgbClr val="E85C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398678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188720" y="3986784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5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7.2 млрд ₸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188720" y="444398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5F0"/>
                </a:solidFill>
              </a:rPr>
              <a:t>потенциальных потерь субсидий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28600"/>
            <a:ext cx="4206240" cy="4663440"/>
          </a:xfrm>
          <a:prstGeom prst="roundRect">
            <a:avLst>
              <a:gd name="adj" fmla="val 3261"/>
            </a:avLst>
          </a:prstGeom>
          <a:solidFill>
            <a:srgbClr val="2D6A4F"/>
          </a:solidFill>
          <a:ln w="12700">
            <a:solidFill>
              <a:srgbClr val="3A8C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4747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5C00"/>
                </a:solidFill>
              </a:rPr>
              <a:t>Интеграция в экосистему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00600" y="8412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5F0"/>
                </a:solidFill>
              </a:rPr>
              <a:t>🏛  </a:t>
            </a:r>
            <a:r>
              <a:rPr lang="en-US" sz="1300" dirty="0" smtClean="0">
                <a:solidFill>
                  <a:srgbClr val="F0F5F0"/>
                </a:solidFill>
              </a:rPr>
              <a:t>  </a:t>
            </a:r>
            <a:r>
              <a:rPr lang="en-US" sz="1300" dirty="0" err="1" smtClean="0">
                <a:solidFill>
                  <a:srgbClr val="F0F5F0"/>
                </a:solidFill>
              </a:rPr>
              <a:t>Министерство</a:t>
            </a:r>
            <a:r>
              <a:rPr lang="en-US" sz="1300" dirty="0" smtClean="0">
                <a:solidFill>
                  <a:srgbClr val="F0F5F0"/>
                </a:solidFill>
              </a:rPr>
              <a:t> </a:t>
            </a:r>
            <a:r>
              <a:rPr lang="en-US" sz="1300" dirty="0">
                <a:solidFill>
                  <a:srgbClr val="F0F5F0"/>
                </a:solidFill>
              </a:rPr>
              <a:t>сельского хозяйства РК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13167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0F5F0"/>
                </a:solidFill>
              </a:rPr>
              <a:t>💳  </a:t>
            </a:r>
            <a:r>
              <a:rPr lang="en-US" sz="1300" smtClean="0">
                <a:solidFill>
                  <a:srgbClr val="F0F5F0"/>
                </a:solidFill>
              </a:rPr>
              <a:t>  </a:t>
            </a:r>
            <a:r>
              <a:rPr lang="en-US" sz="1300" dirty="0" err="1" smtClean="0">
                <a:solidFill>
                  <a:srgbClr val="F0F5F0"/>
                </a:solidFill>
              </a:rPr>
              <a:t>Субсидирование</a:t>
            </a:r>
            <a:r>
              <a:rPr lang="en-US" sz="1300" dirty="0">
                <a:solidFill>
                  <a:srgbClr val="F0F5F0"/>
                </a:solidFill>
              </a:rPr>
              <a:t>: прозрачный учёт потерь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179222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5F0"/>
                </a:solidFill>
              </a:rPr>
              <a:t>🌍  </a:t>
            </a:r>
            <a:r>
              <a:rPr lang="en-US" sz="1300" dirty="0" smtClean="0">
                <a:solidFill>
                  <a:srgbClr val="F0F5F0"/>
                </a:solidFill>
              </a:rPr>
              <a:t>  ГИС-</a:t>
            </a:r>
            <a:r>
              <a:rPr lang="en-US" sz="1300" dirty="0" err="1" smtClean="0">
                <a:solidFill>
                  <a:srgbClr val="F0F5F0"/>
                </a:solidFill>
              </a:rPr>
              <a:t>платформы</a:t>
            </a:r>
            <a:r>
              <a:rPr lang="en-US" sz="1300" dirty="0" smtClean="0">
                <a:solidFill>
                  <a:srgbClr val="F0F5F0"/>
                </a:solidFill>
              </a:rPr>
              <a:t> </a:t>
            </a:r>
            <a:r>
              <a:rPr lang="en-US" sz="1300" dirty="0">
                <a:solidFill>
                  <a:srgbClr val="F0F5F0"/>
                </a:solidFill>
              </a:rPr>
              <a:t>и агро-дашборды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22677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5F0"/>
                </a:solidFill>
              </a:rPr>
              <a:t>📡 </a:t>
            </a:r>
            <a:r>
              <a:rPr lang="en-US" sz="1300" dirty="0" smtClean="0">
                <a:solidFill>
                  <a:srgbClr val="F0F5F0"/>
                </a:solidFill>
              </a:rPr>
              <a:t>   </a:t>
            </a:r>
            <a:r>
              <a:rPr lang="en-US" sz="1300" dirty="0">
                <a:solidFill>
                  <a:srgbClr val="F0F5F0"/>
                </a:solidFill>
              </a:rPr>
              <a:t>IoT датчики и метеостанции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27432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5F0"/>
                </a:solidFill>
              </a:rPr>
              <a:t>🏦  </a:t>
            </a:r>
            <a:r>
              <a:rPr lang="en-US" sz="1300" dirty="0" smtClean="0">
                <a:solidFill>
                  <a:srgbClr val="F0F5F0"/>
                </a:solidFill>
              </a:rPr>
              <a:t>  </a:t>
            </a:r>
            <a:r>
              <a:rPr lang="en-US" sz="1300" dirty="0" err="1" smtClean="0">
                <a:solidFill>
                  <a:srgbClr val="F0F5F0"/>
                </a:solidFill>
              </a:rPr>
              <a:t>Агростраховые</a:t>
            </a:r>
            <a:r>
              <a:rPr lang="en-US" sz="1300" dirty="0" smtClean="0">
                <a:solidFill>
                  <a:srgbClr val="F0F5F0"/>
                </a:solidFill>
              </a:rPr>
              <a:t> </a:t>
            </a:r>
            <a:r>
              <a:rPr lang="en-US" sz="1300" dirty="0">
                <a:solidFill>
                  <a:srgbClr val="F0F5F0"/>
                </a:solidFill>
              </a:rPr>
              <a:t>компании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32186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5F0"/>
                </a:solidFill>
              </a:rPr>
              <a:t>📊  </a:t>
            </a:r>
            <a:r>
              <a:rPr lang="en-US" sz="1300" dirty="0" smtClean="0">
                <a:solidFill>
                  <a:srgbClr val="F0F5F0"/>
                </a:solidFill>
              </a:rPr>
              <a:t>  </a:t>
            </a:r>
            <a:r>
              <a:rPr lang="en-US" sz="1300" dirty="0" err="1" smtClean="0">
                <a:solidFill>
                  <a:srgbClr val="F0F5F0"/>
                </a:solidFill>
              </a:rPr>
              <a:t>Биржи</a:t>
            </a:r>
            <a:r>
              <a:rPr lang="en-US" sz="1300" dirty="0" smtClean="0">
                <a:solidFill>
                  <a:srgbClr val="F0F5F0"/>
                </a:solidFill>
              </a:rPr>
              <a:t> </a:t>
            </a:r>
            <a:r>
              <a:rPr lang="en-US" sz="1300" dirty="0">
                <a:solidFill>
                  <a:srgbClr val="F0F5F0"/>
                </a:solidFill>
              </a:rPr>
              <a:t>сельхозпродукции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369417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5F0"/>
                </a:solidFill>
              </a:rPr>
              <a:t>🚒  </a:t>
            </a:r>
            <a:r>
              <a:rPr lang="en-US" sz="1300" dirty="0" smtClean="0">
                <a:solidFill>
                  <a:srgbClr val="F0F5F0"/>
                </a:solidFill>
              </a:rPr>
              <a:t>  МЧС </a:t>
            </a:r>
            <a:r>
              <a:rPr lang="en-US" sz="1300" dirty="0">
                <a:solidFill>
                  <a:srgbClr val="F0F5F0"/>
                </a:solidFill>
              </a:rPr>
              <a:t>— оперативное реагирование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0" y="416966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5F0"/>
                </a:solidFill>
              </a:rPr>
              <a:t>📲  </a:t>
            </a:r>
            <a:r>
              <a:rPr lang="en-US" sz="1300" dirty="0" smtClean="0">
                <a:solidFill>
                  <a:srgbClr val="F0F5F0"/>
                </a:solidFill>
              </a:rPr>
              <a:t>  </a:t>
            </a:r>
            <a:r>
              <a:rPr lang="en-US" sz="1300" dirty="0" err="1" smtClean="0">
                <a:solidFill>
                  <a:srgbClr val="F0F5F0"/>
                </a:solidFill>
              </a:rPr>
              <a:t>Aitu</a:t>
            </a:r>
            <a:r>
              <a:rPr lang="en-US" sz="1300" dirty="0" smtClean="0">
                <a:solidFill>
                  <a:srgbClr val="F0F5F0"/>
                </a:solidFill>
              </a:rPr>
              <a:t> </a:t>
            </a:r>
            <a:r>
              <a:rPr lang="en-US" sz="1300" dirty="0">
                <a:solidFill>
                  <a:srgbClr val="F0F5F0"/>
                </a:solidFill>
              </a:rPr>
              <a:t>(планируется) / Telegram API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E85C00"/>
                </a:solidFill>
              </a:rPr>
              <a:t>НАШИ ПРЕИМУЩЕСТВА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3A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Почему AgriFireShield?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432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6350">
            <a:solidFill>
              <a:srgbClr val="2D6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6">
                    <a:lumMod val="50000"/>
                  </a:schemeClr>
                </a:solidFill>
              </a:rPr>
              <a:t>01</a:t>
            </a:r>
            <a:endParaRPr lang="en-US" sz="1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005840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🛰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8470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</a:rPr>
              <a:t>Реальные данные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194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NASA FIRMS — та же система что NASA и МЧС. Точность подтверждена спутниками VIIRS.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72968" y="1188720"/>
            <a:ext cx="27432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6350">
            <a:solidFill>
              <a:srgbClr val="2D6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6">
                    <a:lumMod val="50000"/>
                  </a:schemeClr>
                </a:solidFill>
              </a:rPr>
              <a:t>02</a:t>
            </a:r>
            <a:endParaRPr lang="en-US" sz="1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3904488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10128" y="18470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</a:rPr>
              <a:t>Claude AI Haiku 4.5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0128" y="2194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Аналитика на понятном языке. Анализ фото урожая, агроконсультации, прогнозы пожаров.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71616" y="1188720"/>
            <a:ext cx="27432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6350">
            <a:solidFill>
              <a:srgbClr val="2D6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36208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6">
                    <a:lumMod val="50000"/>
                  </a:schemeClr>
                </a:solidFill>
              </a:rPr>
              <a:t>03</a:t>
            </a:r>
            <a:endParaRPr lang="en-US" sz="1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803136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208776" y="18470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</a:rPr>
              <a:t>n8n = бесконечная интеграция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08776" y="2194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Подключить к любой госсистеме, базе данных или API за минуты без программирования.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971800"/>
            <a:ext cx="27432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6350">
            <a:solidFill>
              <a:srgbClr val="E85C0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38912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6">
                    <a:lumMod val="50000"/>
                  </a:schemeClr>
                </a:solidFill>
              </a:rPr>
              <a:t>04</a:t>
            </a:r>
            <a:endParaRPr lang="en-US" sz="1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05840" y="3081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11480" y="36301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</a:rPr>
              <a:t>Антифрод субсидий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1480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Спутниковые vs заявленные площади — система выявляет расхождения автоматически.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72968" y="2971800"/>
            <a:ext cx="27432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6350">
            <a:solidFill>
              <a:srgbClr val="E85C0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33756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6">
                    <a:lumMod val="50000"/>
                  </a:schemeClr>
                </a:solidFill>
              </a:rPr>
              <a:t>05</a:t>
            </a:r>
            <a:endParaRPr lang="en-US" sz="1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3904488" y="3081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🌾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3310128" y="36301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</a:rPr>
              <a:t>Живая аналитика урожайности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310128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Данные 2022–2024 из gosagro.kz. Аномалии, классы качества, Топ-3 регионов.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71616" y="2971800"/>
            <a:ext cx="27432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6350">
            <a:solidFill>
              <a:srgbClr val="E85C0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236208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6">
                    <a:lumMod val="50000"/>
                  </a:schemeClr>
                </a:solidFill>
              </a:rPr>
              <a:t>06</a:t>
            </a:r>
            <a:endParaRPr lang="en-US" sz="1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6803136" y="3081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💡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6208776" y="36301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</a:rPr>
              <a:t>Открытые API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08776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NASA, Open-Meteo — бесплатно. Минимальные расходы при максимальном охвате.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097280" y="4754880"/>
            <a:ext cx="6949440" cy="274320"/>
          </a:xfrm>
          <a:prstGeom prst="roundRect">
            <a:avLst>
              <a:gd name="adj" fmla="val 26667"/>
            </a:avLst>
          </a:prstGeom>
          <a:solidFill>
            <a:srgbClr val="E85C00"/>
          </a:solidFill>
          <a:ln w="12700">
            <a:solidFill>
              <a:srgbClr val="E85C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97280" y="47548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🚀  AgriFireShield — защищаем поля, сохраняем урожай Казахстана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5C00"/>
                </a:solidFill>
              </a:rPr>
              <a:t>ЦЕЛЕВАЯ АУДИТОРИЯ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Потребитель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Рынок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192024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85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млн+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74320" y="2560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E90"/>
                </a:solidFill>
              </a:rPr>
              <a:t>фермеров в Казахстане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31089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8C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249 млрд ₸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74320" y="3611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E90"/>
                </a:solidFill>
              </a:rPr>
              <a:t>субсидий под контролем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0" y="2560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A2A"/>
                </a:solidFill>
              </a:rPr>
              <a:t>Кто использует AgriFireShield?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251960" y="822960"/>
            <a:ext cx="461772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43400" y="8869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🌾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120640" y="9144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2A"/>
                </a:solidFill>
              </a:rPr>
              <a:t>Фермеры и агропредприятия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20640" y="12618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Защита урожая, мониторинг пожаров, ИИ-консультации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51960" y="1874520"/>
            <a:ext cx="461772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43400" y="193852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120640" y="19659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2A"/>
                </a:solidFill>
              </a:rPr>
              <a:t>Агростраховые компании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20640" y="23134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Прозрачный учёт ущерба, NASA-данные как доказательная база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51960" y="2926080"/>
            <a:ext cx="461772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43400" y="29900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🏛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120640" y="30175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2A"/>
                </a:solidFill>
              </a:rPr>
              <a:t>Минсельхоз РК &amp; МЧС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20640" y="33649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Контроль субсидий, антифрод, оперативное реагирование на пожары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51960" y="3977640"/>
            <a:ext cx="461772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343400" y="40416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🌍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5120640" y="40690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2A"/>
                </a:solidFill>
              </a:rPr>
              <a:t>ГИС-платформы &amp; IoT сети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120640" y="44165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Интеграция данных, агро-дашборды, спутниковая аналитика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2743200"/>
            <a:ext cx="2286000" cy="2286000"/>
          </a:xfrm>
          <a:prstGeom prst="line">
            <a:avLst/>
          </a:prstGeom>
          <a:solidFill>
            <a:srgbClr val="2D6A4F">
              <a:alpha val="30000"/>
            </a:srgbClr>
          </a:solidFill>
          <a:ln w="12700">
            <a:solidFill>
              <a:srgbClr val="2D6A4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3200400" cy="3200400"/>
          </a:xfrm>
          <a:prstGeom prst="line">
            <a:avLst/>
          </a:prstGeom>
          <a:solidFill>
            <a:srgbClr val="2D6A4F">
              <a:alpha val="20000"/>
            </a:srgbClr>
          </a:solidFill>
          <a:ln w="12700">
            <a:solidFill>
              <a:srgbClr val="2D6A4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548640"/>
            <a:ext cx="2743200" cy="0"/>
          </a:xfrm>
          <a:prstGeom prst="line">
            <a:avLst/>
          </a:prstGeom>
          <a:noFill/>
          <a:ln w="38100">
            <a:solidFill>
              <a:srgbClr val="E85C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Благодарим</a:t>
            </a:r>
            <a:endParaRPr lang="en-US" sz="6400" dirty="0"/>
          </a:p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за внимание!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31520" y="257860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4845F"/>
                </a:solidFill>
              </a:rPr>
              <a:t>AgriFireShield — защищаем поля, сохраняем урожай Казахстана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011680" y="3154680"/>
            <a:ext cx="5120640" cy="1005840"/>
          </a:xfrm>
          <a:prstGeom prst="roundRect">
            <a:avLst>
              <a:gd name="adj" fmla="val 13636"/>
            </a:avLst>
          </a:prstGeom>
          <a:solidFill>
            <a:srgbClr val="2D6A4F"/>
          </a:solidFill>
          <a:ln w="19050">
            <a:solidFill>
              <a:srgbClr val="E85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32461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 err="1">
                <a:solidFill>
                  <a:srgbClr val="E8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</a:t>
            </a:r>
            <a:r>
              <a:rPr lang="en-US" sz="1800" b="1" dirty="0">
                <a:solidFill>
                  <a:srgbClr val="E8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800" b="1" dirty="0" smtClean="0">
                <a:solidFill>
                  <a:srgbClr val="E8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2400" b="1" dirty="0" smtClean="0">
                <a:solidFill>
                  <a:srgbClr val="E8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🐱</a:t>
            </a:r>
            <a:r>
              <a:rPr lang="en-US" sz="1800" b="1" dirty="0" smtClean="0">
                <a:solidFill>
                  <a:srgbClr val="E8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b="1" dirty="0">
                <a:solidFill>
                  <a:srgbClr val="E8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Хакатята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011680" y="3657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0F5F0"/>
                </a:solidFill>
              </a:rPr>
              <a:t>Бахтияров Бекзодбек  ·  Кушебаев Алмат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9E90"/>
                </a:solidFill>
              </a:rPr>
              <a:t>🛰 </a:t>
            </a:r>
            <a:r>
              <a:rPr lang="ru-RU" sz="1300" dirty="0" smtClean="0">
                <a:solidFill>
                  <a:srgbClr val="8A9E90"/>
                </a:solidFill>
              </a:rPr>
              <a:t>   </a:t>
            </a:r>
            <a:r>
              <a:rPr lang="en-US" sz="1300" dirty="0" smtClean="0">
                <a:solidFill>
                  <a:srgbClr val="8A9E90"/>
                </a:solidFill>
              </a:rPr>
              <a:t>NASA </a:t>
            </a:r>
            <a:r>
              <a:rPr lang="en-US" sz="1300" dirty="0">
                <a:solidFill>
                  <a:srgbClr val="8A9E90"/>
                </a:solidFill>
              </a:rPr>
              <a:t>FIRMS  ·  🤖 </a:t>
            </a:r>
            <a:r>
              <a:rPr lang="ru-RU" sz="1300" dirty="0" smtClean="0">
                <a:solidFill>
                  <a:srgbClr val="8A9E90"/>
                </a:solidFill>
              </a:rPr>
              <a:t>   </a:t>
            </a:r>
            <a:r>
              <a:rPr lang="en-US" sz="1300" dirty="0" smtClean="0">
                <a:solidFill>
                  <a:srgbClr val="8A9E90"/>
                </a:solidFill>
              </a:rPr>
              <a:t>Claude </a:t>
            </a:r>
            <a:r>
              <a:rPr lang="en-US" sz="1300" dirty="0">
                <a:solidFill>
                  <a:srgbClr val="8A9E90"/>
                </a:solidFill>
              </a:rPr>
              <a:t>AI  ·  ⚡ n8n  ·  🌐 </a:t>
            </a:r>
            <a:r>
              <a:rPr lang="ru-RU" sz="1300" dirty="0" smtClean="0">
                <a:solidFill>
                  <a:srgbClr val="8A9E90"/>
                </a:solidFill>
              </a:rPr>
              <a:t>   </a:t>
            </a:r>
            <a:r>
              <a:rPr lang="en-US" sz="1300" dirty="0" err="1" smtClean="0">
                <a:solidFill>
                  <a:srgbClr val="8A9E90"/>
                </a:solidFill>
              </a:rPr>
              <a:t>Laravel</a:t>
            </a:r>
            <a:r>
              <a:rPr lang="en-US" sz="1300" dirty="0" smtClean="0">
                <a:solidFill>
                  <a:srgbClr val="8A9E90"/>
                </a:solidFill>
              </a:rPr>
              <a:t>  </a:t>
            </a:r>
            <a:r>
              <a:rPr lang="en-US" sz="1300" dirty="0">
                <a:solidFill>
                  <a:srgbClr val="8A9E90"/>
                </a:solidFill>
              </a:rPr>
              <a:t>·  </a:t>
            </a:r>
            <a:r>
              <a:rPr lang="en-US" sz="1300" dirty="0" smtClean="0">
                <a:solidFill>
                  <a:srgbClr val="8A9E90"/>
                </a:solidFill>
              </a:rPr>
              <a:t>📲</a:t>
            </a:r>
            <a:r>
              <a:rPr lang="ru-RU" sz="1300" dirty="0" smtClean="0">
                <a:solidFill>
                  <a:srgbClr val="8A9E90"/>
                </a:solidFill>
              </a:rPr>
              <a:t>   </a:t>
            </a:r>
            <a:r>
              <a:rPr lang="en-US" sz="1300" dirty="0" smtClean="0">
                <a:solidFill>
                  <a:srgbClr val="8A9E90"/>
                </a:solidFill>
              </a:rPr>
              <a:t> </a:t>
            </a:r>
            <a:r>
              <a:rPr lang="en-US" sz="1300" dirty="0">
                <a:solidFill>
                  <a:srgbClr val="8A9E90"/>
                </a:solidFill>
              </a:rPr>
              <a:t>Aitu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666</Words>
  <Application>Microsoft Office PowerPoint</Application>
  <PresentationFormat>Экран (16:9)</PresentationFormat>
  <Paragraphs>188</Paragraphs>
  <Slides>10</Slides>
  <Notes>10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AgriFireShield</dc:title>
  <dc:subject>PptxGenJS Presentation</dc:subject>
  <dc:creator>PptxGenJS</dc:creator>
  <cp:lastModifiedBy>Алмат Кушебаев</cp:lastModifiedBy>
  <cp:revision>3</cp:revision>
  <dcterms:created xsi:type="dcterms:W3CDTF">2026-04-29T11:33:31Z</dcterms:created>
  <dcterms:modified xsi:type="dcterms:W3CDTF">2026-04-29T13:23:32Z</dcterms:modified>
</cp:coreProperties>
</file>